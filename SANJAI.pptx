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8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59" autoAdjust="0"/>
    <p:restoredTop sz="86380" autoAdjust="0"/>
  </p:normalViewPr>
  <p:slideViewPr>
    <p:cSldViewPr>
      <p:cViewPr varScale="1">
        <p:scale>
          <a:sx n="63" d="100"/>
          <a:sy n="63" d="100"/>
        </p:scale>
        <p:origin x="-522" y="-9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nduru Narasimha" userId="bd3f5b018a89079d" providerId="LiveId" clId="{69F0B7B8-A48D-48FD-8D34-6509FC35AB36}"/>
    <pc:docChg chg="modSld">
      <pc:chgData name="Konduru Narasimha" userId="bd3f5b018a89079d" providerId="LiveId" clId="{69F0B7B8-A48D-48FD-8D34-6509FC35AB36}" dt="2024-03-30T14:42:22.571" v="0" actId="1076"/>
      <pc:docMkLst>
        <pc:docMk/>
      </pc:docMkLst>
      <pc:sldChg chg="modSp mod">
        <pc:chgData name="Konduru Narasimha" userId="bd3f5b018a89079d" providerId="LiveId" clId="{69F0B7B8-A48D-48FD-8D34-6509FC35AB36}" dt="2024-03-30T14:42:22.571" v="0" actId="1076"/>
        <pc:sldMkLst>
          <pc:docMk/>
          <pc:sldMk cId="0" sldId="265"/>
        </pc:sldMkLst>
        <pc:picChg chg="mod">
          <ac:chgData name="Konduru Narasimha" userId="bd3f5b018a89079d" providerId="LiveId" clId="{69F0B7B8-A48D-48FD-8D34-6509FC35AB36}" dt="2024-03-30T14:42:22.571" v="0" actId="1076"/>
          <ac:picMkLst>
            <pc:docMk/>
            <pc:sldMk cId="0" sldId="265"/>
            <ac:picMk id="13" creationId="{FEA2EDFA-59A4-12BC-EED8-7AFB8BE2180E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abi\abi%20projec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pivotSource>
    <c:name>[abi project.xlsx]Sheet1!PivotTable2</c:name>
    <c:fmtId val="3"/>
  </c:pivotSource>
  <c:chart>
    <c:pivotFmts>
      <c:pivotFmt>
        <c:idx val="0"/>
        <c:marker>
          <c:symbol val="none"/>
        </c:marker>
      </c:pivotFmt>
      <c:pivotFmt>
        <c:idx val="1"/>
        <c:marker>
          <c:symbol val="none"/>
        </c:marker>
      </c:pivotFmt>
      <c:pivotFmt>
        <c:idx val="2"/>
        <c:marker>
          <c:symbol val="none"/>
        </c:marker>
      </c:pivotFmt>
      <c:pivotFmt>
        <c:idx val="3"/>
        <c:marker>
          <c:symbol val="none"/>
        </c:marker>
      </c:pivotFmt>
      <c:pivotFmt>
        <c:idx val="4"/>
        <c:marker>
          <c:symbol val="none"/>
        </c:marker>
      </c:pivotFmt>
      <c:pivotFmt>
        <c:idx val="5"/>
        <c:marker>
          <c:symbol val="none"/>
        </c:marker>
      </c:pivotFmt>
      <c:pivotFmt>
        <c:idx val="6"/>
        <c:marker>
          <c:symbol val="none"/>
        </c:marker>
      </c:pivotFmt>
      <c:pivotFmt>
        <c:idx val="7"/>
        <c:marker>
          <c:symbol val="none"/>
        </c:marker>
      </c:pivotFmt>
      <c:pivotFmt>
        <c:idx val="8"/>
        <c:marker>
          <c:symbol val="none"/>
        </c:marker>
      </c:pivotFmt>
      <c:pivotFmt>
        <c:idx val="9"/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8.6656475632854044E-2"/>
          <c:y val="8.5420365932519782E-2"/>
          <c:w val="0.81797236883851054"/>
          <c:h val="0.80837338810909509"/>
        </c:manualLayout>
      </c:layout>
      <c:barChart>
        <c:barDir val="col"/>
        <c:grouping val="clustered"/>
        <c:ser>
          <c:idx val="0"/>
          <c:order val="0"/>
          <c:tx>
            <c:strRef>
              <c:f>Sheet1!$B$3:$B$4</c:f>
              <c:strCache>
                <c:ptCount val="1"/>
                <c:pt idx="0">
                  <c:v>1</c:v>
                </c:pt>
              </c:strCache>
            </c:strRef>
          </c:tx>
          <c:cat>
            <c:strRef>
              <c:f>Sheet1!$A$5:$A$15</c:f>
              <c:strCache>
                <c:ptCount val="10"/>
                <c:pt idx="0">
                  <c:v>BPC</c:v>
                </c:pt>
                <c:pt idx="1">
                  <c:v>CCDR</c:v>
                </c:pt>
                <c:pt idx="2">
                  <c:v>EW</c:v>
                </c:pt>
                <c:pt idx="3">
                  <c:v>MSC</c:v>
                </c:pt>
                <c:pt idx="4">
                  <c:v>NEL</c:v>
                </c:pt>
                <c:pt idx="5">
                  <c:v>PL</c:v>
                </c:pt>
                <c:pt idx="6">
                  <c:v>PYZ</c:v>
                </c:pt>
                <c:pt idx="7">
                  <c:v>SVG</c:v>
                </c:pt>
                <c:pt idx="8">
                  <c:v>TNS</c:v>
                </c:pt>
                <c:pt idx="9">
                  <c:v>WBL</c:v>
                </c:pt>
              </c:strCache>
            </c:strRef>
          </c:cat>
          <c:val>
            <c:numRef>
              <c:f>Sheet1!$B$5:$B$15</c:f>
              <c:numCache>
                <c:formatCode>General</c:formatCode>
                <c:ptCount val="10"/>
                <c:pt idx="0">
                  <c:v>25</c:v>
                </c:pt>
                <c:pt idx="1">
                  <c:v>32</c:v>
                </c:pt>
                <c:pt idx="2">
                  <c:v>29</c:v>
                </c:pt>
                <c:pt idx="3">
                  <c:v>25</c:v>
                </c:pt>
                <c:pt idx="4">
                  <c:v>25</c:v>
                </c:pt>
                <c:pt idx="5">
                  <c:v>28</c:v>
                </c:pt>
                <c:pt idx="6">
                  <c:v>28</c:v>
                </c:pt>
                <c:pt idx="7">
                  <c:v>28</c:v>
                </c:pt>
                <c:pt idx="8">
                  <c:v>24</c:v>
                </c:pt>
                <c:pt idx="9">
                  <c:v>27</c:v>
                </c:pt>
              </c:numCache>
            </c:numRef>
          </c:val>
        </c:ser>
        <c:ser>
          <c:idx val="1"/>
          <c:order val="1"/>
          <c:tx>
            <c:strRef>
              <c:f>Sheet1!$C$3:$C$4</c:f>
              <c:strCache>
                <c:ptCount val="1"/>
                <c:pt idx="0">
                  <c:v>2</c:v>
                </c:pt>
              </c:strCache>
            </c:strRef>
          </c:tx>
          <c:cat>
            <c:strRef>
              <c:f>Sheet1!$A$5:$A$15</c:f>
              <c:strCache>
                <c:ptCount val="10"/>
                <c:pt idx="0">
                  <c:v>BPC</c:v>
                </c:pt>
                <c:pt idx="1">
                  <c:v>CCDR</c:v>
                </c:pt>
                <c:pt idx="2">
                  <c:v>EW</c:v>
                </c:pt>
                <c:pt idx="3">
                  <c:v>MSC</c:v>
                </c:pt>
                <c:pt idx="4">
                  <c:v>NEL</c:v>
                </c:pt>
                <c:pt idx="5">
                  <c:v>PL</c:v>
                </c:pt>
                <c:pt idx="6">
                  <c:v>PYZ</c:v>
                </c:pt>
                <c:pt idx="7">
                  <c:v>SVG</c:v>
                </c:pt>
                <c:pt idx="8">
                  <c:v>TNS</c:v>
                </c:pt>
                <c:pt idx="9">
                  <c:v>WBL</c:v>
                </c:pt>
              </c:strCache>
            </c:strRef>
          </c:cat>
          <c:val>
            <c:numRef>
              <c:f>Sheet1!$C$5:$C$15</c:f>
              <c:numCache>
                <c:formatCode>General</c:formatCode>
                <c:ptCount val="10"/>
                <c:pt idx="0">
                  <c:v>55</c:v>
                </c:pt>
                <c:pt idx="1">
                  <c:v>57</c:v>
                </c:pt>
                <c:pt idx="2">
                  <c:v>49</c:v>
                </c:pt>
                <c:pt idx="3">
                  <c:v>51</c:v>
                </c:pt>
                <c:pt idx="4">
                  <c:v>48</c:v>
                </c:pt>
                <c:pt idx="5">
                  <c:v>40</c:v>
                </c:pt>
                <c:pt idx="6">
                  <c:v>57</c:v>
                </c:pt>
                <c:pt idx="7">
                  <c:v>50</c:v>
                </c:pt>
                <c:pt idx="8">
                  <c:v>51</c:v>
                </c:pt>
                <c:pt idx="9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Sheet1!$D$3:$D$4</c:f>
              <c:strCache>
                <c:ptCount val="1"/>
                <c:pt idx="0">
                  <c:v>3</c:v>
                </c:pt>
              </c:strCache>
            </c:strRef>
          </c:tx>
          <c:cat>
            <c:strRef>
              <c:f>Sheet1!$A$5:$A$15</c:f>
              <c:strCache>
                <c:ptCount val="10"/>
                <c:pt idx="0">
                  <c:v>BPC</c:v>
                </c:pt>
                <c:pt idx="1">
                  <c:v>CCDR</c:v>
                </c:pt>
                <c:pt idx="2">
                  <c:v>EW</c:v>
                </c:pt>
                <c:pt idx="3">
                  <c:v>MSC</c:v>
                </c:pt>
                <c:pt idx="4">
                  <c:v>NEL</c:v>
                </c:pt>
                <c:pt idx="5">
                  <c:v>PL</c:v>
                </c:pt>
                <c:pt idx="6">
                  <c:v>PYZ</c:v>
                </c:pt>
                <c:pt idx="7">
                  <c:v>SVG</c:v>
                </c:pt>
                <c:pt idx="8">
                  <c:v>TNS</c:v>
                </c:pt>
                <c:pt idx="9">
                  <c:v>WBL</c:v>
                </c:pt>
              </c:strCache>
            </c:strRef>
          </c:cat>
          <c:val>
            <c:numRef>
              <c:f>Sheet1!$D$5:$D$15</c:f>
              <c:numCache>
                <c:formatCode>General</c:formatCode>
                <c:ptCount val="10"/>
                <c:pt idx="0">
                  <c:v>152</c:v>
                </c:pt>
                <c:pt idx="1">
                  <c:v>141</c:v>
                </c:pt>
                <c:pt idx="2">
                  <c:v>160</c:v>
                </c:pt>
                <c:pt idx="3">
                  <c:v>158</c:v>
                </c:pt>
                <c:pt idx="4">
                  <c:v>158</c:v>
                </c:pt>
                <c:pt idx="5">
                  <c:v>151</c:v>
                </c:pt>
                <c:pt idx="6">
                  <c:v>146</c:v>
                </c:pt>
                <c:pt idx="7">
                  <c:v>156</c:v>
                </c:pt>
                <c:pt idx="8">
                  <c:v>160</c:v>
                </c:pt>
                <c:pt idx="9">
                  <c:v>148</c:v>
                </c:pt>
              </c:numCache>
            </c:numRef>
          </c:val>
        </c:ser>
        <c:ser>
          <c:idx val="3"/>
          <c:order val="3"/>
          <c:tx>
            <c:strRef>
              <c:f>Sheet1!$E$3:$E$4</c:f>
              <c:strCache>
                <c:ptCount val="1"/>
                <c:pt idx="0">
                  <c:v>4</c:v>
                </c:pt>
              </c:strCache>
            </c:strRef>
          </c:tx>
          <c:cat>
            <c:strRef>
              <c:f>Sheet1!$A$5:$A$15</c:f>
              <c:strCache>
                <c:ptCount val="10"/>
                <c:pt idx="0">
                  <c:v>BPC</c:v>
                </c:pt>
                <c:pt idx="1">
                  <c:v>CCDR</c:v>
                </c:pt>
                <c:pt idx="2">
                  <c:v>EW</c:v>
                </c:pt>
                <c:pt idx="3">
                  <c:v>MSC</c:v>
                </c:pt>
                <c:pt idx="4">
                  <c:v>NEL</c:v>
                </c:pt>
                <c:pt idx="5">
                  <c:v>PL</c:v>
                </c:pt>
                <c:pt idx="6">
                  <c:v>PYZ</c:v>
                </c:pt>
                <c:pt idx="7">
                  <c:v>SVG</c:v>
                </c:pt>
                <c:pt idx="8">
                  <c:v>TNS</c:v>
                </c:pt>
                <c:pt idx="9">
                  <c:v>WBL</c:v>
                </c:pt>
              </c:strCache>
            </c:strRef>
          </c:cat>
          <c:val>
            <c:numRef>
              <c:f>Sheet1!$E$5:$E$15</c:f>
              <c:numCache>
                <c:formatCode>General</c:formatCode>
                <c:ptCount val="10"/>
                <c:pt idx="0">
                  <c:v>37</c:v>
                </c:pt>
                <c:pt idx="1">
                  <c:v>45</c:v>
                </c:pt>
                <c:pt idx="2">
                  <c:v>41</c:v>
                </c:pt>
                <c:pt idx="3">
                  <c:v>34</c:v>
                </c:pt>
                <c:pt idx="4">
                  <c:v>50</c:v>
                </c:pt>
                <c:pt idx="5">
                  <c:v>50</c:v>
                </c:pt>
                <c:pt idx="6">
                  <c:v>44</c:v>
                </c:pt>
                <c:pt idx="7">
                  <c:v>40</c:v>
                </c:pt>
                <c:pt idx="8">
                  <c:v>38</c:v>
                </c:pt>
                <c:pt idx="9">
                  <c:v>40</c:v>
                </c:pt>
              </c:numCache>
            </c:numRef>
          </c:val>
        </c:ser>
        <c:ser>
          <c:idx val="4"/>
          <c:order val="4"/>
          <c:tx>
            <c:strRef>
              <c:f>Sheet1!$F$3:$F$4</c:f>
              <c:strCache>
                <c:ptCount val="1"/>
                <c:pt idx="0">
                  <c:v>5</c:v>
                </c:pt>
              </c:strCache>
            </c:strRef>
          </c:tx>
          <c:cat>
            <c:strRef>
              <c:f>Sheet1!$A$5:$A$15</c:f>
              <c:strCache>
                <c:ptCount val="10"/>
                <c:pt idx="0">
                  <c:v>BPC</c:v>
                </c:pt>
                <c:pt idx="1">
                  <c:v>CCDR</c:v>
                </c:pt>
                <c:pt idx="2">
                  <c:v>EW</c:v>
                </c:pt>
                <c:pt idx="3">
                  <c:v>MSC</c:v>
                </c:pt>
                <c:pt idx="4">
                  <c:v>NEL</c:v>
                </c:pt>
                <c:pt idx="5">
                  <c:v>PL</c:v>
                </c:pt>
                <c:pt idx="6">
                  <c:v>PYZ</c:v>
                </c:pt>
                <c:pt idx="7">
                  <c:v>SVG</c:v>
                </c:pt>
                <c:pt idx="8">
                  <c:v>TNS</c:v>
                </c:pt>
                <c:pt idx="9">
                  <c:v>WBL</c:v>
                </c:pt>
              </c:strCache>
            </c:strRef>
          </c:cat>
          <c:val>
            <c:numRef>
              <c:f>Sheet1!$F$5:$F$15</c:f>
              <c:numCache>
                <c:formatCode>General</c:formatCode>
                <c:ptCount val="10"/>
                <c:pt idx="0">
                  <c:v>34</c:v>
                </c:pt>
                <c:pt idx="1">
                  <c:v>25</c:v>
                </c:pt>
                <c:pt idx="2">
                  <c:v>23</c:v>
                </c:pt>
                <c:pt idx="3">
                  <c:v>28</c:v>
                </c:pt>
                <c:pt idx="4">
                  <c:v>23</c:v>
                </c:pt>
                <c:pt idx="5">
                  <c:v>32</c:v>
                </c:pt>
                <c:pt idx="6">
                  <c:v>24</c:v>
                </c:pt>
                <c:pt idx="7">
                  <c:v>30</c:v>
                </c:pt>
                <c:pt idx="8">
                  <c:v>24</c:v>
                </c:pt>
                <c:pt idx="9">
                  <c:v>27</c:v>
                </c:pt>
              </c:numCache>
            </c:numRef>
          </c:val>
        </c:ser>
        <c:axId val="75356032"/>
        <c:axId val="75357568"/>
      </c:barChart>
      <c:catAx>
        <c:axId val="75356032"/>
        <c:scaling>
          <c:orientation val="minMax"/>
        </c:scaling>
        <c:axPos val="b"/>
        <c:tickLblPos val="nextTo"/>
        <c:crossAx val="75357568"/>
        <c:crosses val="autoZero"/>
        <c:auto val="1"/>
        <c:lblAlgn val="ctr"/>
        <c:lblOffset val="100"/>
      </c:catAx>
      <c:valAx>
        <c:axId val="75357568"/>
        <c:scaling>
          <c:orientation val="minMax"/>
        </c:scaling>
        <c:axPos val="l"/>
        <c:majorGridlines/>
        <c:numFmt formatCode="General" sourceLinked="1"/>
        <c:tickLblPos val="nextTo"/>
        <c:crossAx val="75356032"/>
        <c:crosses val="autoZero"/>
        <c:crossBetween val="between"/>
      </c:valAx>
    </c:plotArea>
    <c:legend>
      <c:legendPos val="r"/>
    </c:legend>
    <c:plotVisOnly val="1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pPr/>
              <a:t>03-09-2024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435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-828675" y="19665"/>
            <a:ext cx="9982200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Data Analysis using Excel</a:t>
            </a:r>
            <a:r>
              <a:rPr lang="en-US" b="1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  <a:t/>
            </a:r>
            <a:b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spc="15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1</a:t>
            </a:fld>
            <a:endParaRPr spc="1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5ADE35-C35B-07C1-F5AA-C33B3DDB802E}"/>
              </a:ext>
            </a:extLst>
          </p:cNvPr>
          <p:cNvSpPr txBox="1"/>
          <p:nvPr/>
        </p:nvSpPr>
        <p:spPr>
          <a:xfrm>
            <a:off x="2554542" y="3314150"/>
            <a:ext cx="8610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STUDENT </a:t>
            </a:r>
            <a:r>
              <a:rPr lang="en-US" sz="2400" dirty="0" smtClean="0"/>
              <a:t>NAME:SANJAI.M</a:t>
            </a:r>
            <a:endParaRPr lang="en-US" sz="2400" dirty="0"/>
          </a:p>
          <a:p>
            <a:r>
              <a:rPr lang="en-US" sz="2400" dirty="0"/>
              <a:t>REGISTER NO</a:t>
            </a:r>
            <a:r>
              <a:rPr lang="en-US" sz="2400" dirty="0" smtClean="0"/>
              <a:t>: </a:t>
            </a:r>
            <a:r>
              <a:rPr lang="en-US" sz="2400" dirty="0" smtClean="0"/>
              <a:t>312203997(asunm18709)</a:t>
            </a:r>
            <a:endParaRPr lang="en-US" sz="2400" dirty="0"/>
          </a:p>
          <a:p>
            <a:r>
              <a:rPr lang="en-US" sz="2400" dirty="0" smtClean="0"/>
              <a:t>DEPARTMENT:BCOM ACCOUNTING &amp; FINANCE </a:t>
            </a:r>
            <a:endParaRPr lang="en-US" sz="2400" dirty="0"/>
          </a:p>
          <a:p>
            <a:r>
              <a:rPr lang="en-US" sz="2400" dirty="0" smtClean="0"/>
              <a:t>COLLEGE: SRI RAM COLLEGE OF ARTS &amp; SCIENCE</a:t>
            </a:r>
            <a:endParaRPr lang="en-US" sz="2400" dirty="0"/>
          </a:p>
          <a:p>
            <a:r>
              <a:rPr lang="en-US" sz="2400" dirty="0"/>
              <a:t>           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 dirty="0"/>
              <a:t>PROJECT</a:t>
            </a:r>
            <a:r>
              <a:rPr sz="4250" spc="-85" dirty="0"/>
              <a:t> </a:t>
            </a:r>
            <a:r>
              <a:rPr sz="4250" spc="25" dirty="0"/>
              <a:t>TITLE</a:t>
            </a:r>
            <a:endParaRPr sz="4250"/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2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691EEC8-E83B-8506-163B-F39E906CCC0A}"/>
              </a:ext>
            </a:extLst>
          </p:cNvPr>
          <p:cNvSpPr txBox="1"/>
          <p:nvPr/>
        </p:nvSpPr>
        <p:spPr>
          <a:xfrm>
            <a:off x="1217522" y="2123271"/>
            <a:ext cx="85932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Performance Analysis using Excel</a:t>
            </a:r>
            <a:endParaRPr lang="en-IN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A</a:t>
            </a:r>
            <a:r>
              <a:rPr spc="-5" dirty="0"/>
              <a:t>G</a:t>
            </a:r>
            <a:r>
              <a:rPr spc="-35" dirty="0"/>
              <a:t>E</a:t>
            </a:r>
            <a:r>
              <a:rPr spc="15" dirty="0"/>
              <a:t>N</a:t>
            </a:r>
            <a:r>
              <a:rPr dirty="0"/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3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D0827FA3-A9D4-0FE5-45BE-664C8C920E82}"/>
              </a:ext>
            </a:extLst>
          </p:cNvPr>
          <p:cNvSpPr txBox="1"/>
          <p:nvPr/>
        </p:nvSpPr>
        <p:spPr>
          <a:xfrm>
            <a:off x="2509807" y="1041533"/>
            <a:ext cx="5029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and Proposition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Modelling Approach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4072" y="575055"/>
            <a:ext cx="56368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spc="-20" dirty="0"/>
              <a:t>P</a:t>
            </a:r>
            <a:r>
              <a:rPr sz="4250" spc="15" dirty="0"/>
              <a:t>ROB</a:t>
            </a:r>
            <a:r>
              <a:rPr sz="4250" spc="55" dirty="0"/>
              <a:t>L</a:t>
            </a:r>
            <a:r>
              <a:rPr sz="4250" spc="-20" dirty="0"/>
              <a:t>E</a:t>
            </a:r>
            <a:r>
              <a:rPr sz="4250" spc="20" dirty="0"/>
              <a:t>M</a:t>
            </a:r>
            <a:r>
              <a:rPr sz="4250" dirty="0"/>
              <a:t>	</a:t>
            </a:r>
            <a:r>
              <a:rPr sz="4250" spc="10" dirty="0"/>
              <a:t>S</a:t>
            </a:r>
            <a:r>
              <a:rPr sz="4250" spc="-370" dirty="0"/>
              <a:t>T</a:t>
            </a:r>
            <a:r>
              <a:rPr sz="4250" spc="-375" dirty="0"/>
              <a:t>A</a:t>
            </a:r>
            <a:r>
              <a:rPr sz="4250" spc="15" dirty="0"/>
              <a:t>T</a:t>
            </a:r>
            <a:r>
              <a:rPr sz="4250" spc="-10" dirty="0"/>
              <a:t>E</a:t>
            </a:r>
            <a:r>
              <a:rPr sz="4250" spc="-20" dirty="0"/>
              <a:t>ME</a:t>
            </a:r>
            <a:r>
              <a:rPr sz="4250" spc="10" dirty="0"/>
              <a:t>NT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4</a:t>
            </a:fld>
            <a:endParaRPr spc="10" dirty="0"/>
          </a:p>
        </p:txBody>
      </p:sp>
      <p:sp>
        <p:nvSpPr>
          <p:cNvPr id="11" name="Rectangle 10"/>
          <p:cNvSpPr/>
          <p:nvPr/>
        </p:nvSpPr>
        <p:spPr>
          <a:xfrm>
            <a:off x="1219200" y="1595021"/>
            <a:ext cx="533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As a result, we need a comprehensive employee performance analysis framework to: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Accurately measure and track employee performance metrics.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 Identify correlations between performance and factors like training, engagement, and demographics.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Develop targeted interventions to enhance employee growth and productivity.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 Inform data-driven decisions on talent management, promotions, and resource allocation“. 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 dirty="0"/>
              <a:t>PROJECT	</a:t>
            </a:r>
            <a:r>
              <a:rPr sz="4250" spc="-20" dirty="0"/>
              <a:t>OVERVIEW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5</a:t>
            </a:fld>
            <a:endParaRPr spc="1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050B57B-77CA-84FA-9910-3F41C17BBB48}"/>
              </a:ext>
            </a:extLst>
          </p:cNvPr>
          <p:cNvSpPr txBox="1"/>
          <p:nvPr/>
        </p:nvSpPr>
        <p:spPr>
          <a:xfrm>
            <a:off x="990600" y="2133600"/>
            <a:ext cx="792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4400" y="1447801"/>
            <a:ext cx="61722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Our organization seeks to develop a comprehensive employee performance analysis framework to drive data-informed decisions, improve productivity, and enhance talent development. This project aims to:</a:t>
            </a:r>
          </a:p>
          <a:p>
            <a:endParaRPr lang="en-US" sz="2000" dirty="0" smtClean="0"/>
          </a:p>
          <a:p>
            <a:r>
              <a:rPr lang="en-US" sz="2000" dirty="0" smtClean="0"/>
              <a:t>*Collect and integrate relevant employee data from various sources (HR systems, performance reviews, training records, etc.)</a:t>
            </a:r>
          </a:p>
          <a:p>
            <a:r>
              <a:rPr lang="en-US" sz="2000" dirty="0" smtClean="0"/>
              <a:t>* Develop a performance metrics framework to measure employee productivity, quality, and growth</a:t>
            </a:r>
          </a:p>
          <a:p>
            <a:r>
              <a:rPr lang="en-US" sz="2000" dirty="0" smtClean="0"/>
              <a:t>*Analyze key drivers of employee performance, including training, engagement, demographics, and more</a:t>
            </a:r>
          </a:p>
          <a:p>
            <a:r>
              <a:rPr lang="en-US" sz="2000" dirty="0" smtClean="0"/>
              <a:t>* Identify areas for improvement and develop targeted interventions to enhance employee growth and productivity</a:t>
            </a:r>
          </a:p>
          <a:p>
            <a:r>
              <a:rPr lang="en-US" sz="2000" dirty="0" smtClean="0"/>
              <a:t>* Create data visualizations to communicate insights to stakeholders and facilitate decision-making.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/>
              <a:t>W</a:t>
            </a:r>
            <a:r>
              <a:rPr sz="3200" spc="-20" dirty="0"/>
              <a:t>H</a:t>
            </a:r>
            <a:r>
              <a:rPr sz="3200" spc="20" dirty="0"/>
              <a:t>O</a:t>
            </a:r>
            <a:r>
              <a:rPr sz="3200" spc="-235" dirty="0"/>
              <a:t> </a:t>
            </a:r>
            <a:r>
              <a:rPr sz="3200" spc="-10" dirty="0"/>
              <a:t>AR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10" dirty="0"/>
              <a:t>T</a:t>
            </a:r>
            <a:r>
              <a:rPr sz="3200" spc="-15" dirty="0"/>
              <a:t>H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20" dirty="0"/>
              <a:t>E</a:t>
            </a:r>
            <a:r>
              <a:rPr sz="3200" spc="30" dirty="0"/>
              <a:t>N</a:t>
            </a:r>
            <a:r>
              <a:rPr sz="3200" spc="15" dirty="0"/>
              <a:t>D</a:t>
            </a:r>
            <a:r>
              <a:rPr sz="3200" spc="-45" dirty="0"/>
              <a:t> </a:t>
            </a:r>
            <a:r>
              <a:rPr sz="3200" dirty="0"/>
              <a:t>U</a:t>
            </a:r>
            <a:r>
              <a:rPr sz="3200" spc="10" dirty="0"/>
              <a:t>S</a:t>
            </a:r>
            <a:r>
              <a:rPr sz="3200" spc="-25" dirty="0"/>
              <a:t>E</a:t>
            </a:r>
            <a:r>
              <a:rPr sz="3200" spc="-10" dirty="0"/>
              <a:t>R</a:t>
            </a:r>
            <a:r>
              <a:rPr sz="3200" spc="5" dirty="0"/>
              <a:t>S?</a:t>
            </a:r>
            <a:endParaRPr sz="32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6</a:t>
            </a:fld>
            <a:endParaRPr spc="10" dirty="0"/>
          </a:p>
        </p:txBody>
      </p:sp>
      <p:pic>
        <p:nvPicPr>
          <p:cNvPr id="9" name="Picture 8" descr="ep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1600200"/>
            <a:ext cx="2438400" cy="3505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76401" y="2133600"/>
            <a:ext cx="213359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1.Employee</a:t>
            </a:r>
          </a:p>
          <a:p>
            <a:endParaRPr lang="en-US" sz="3200" dirty="0" smtClean="0"/>
          </a:p>
          <a:p>
            <a:r>
              <a:rPr lang="en-US" sz="3200" dirty="0" smtClean="0"/>
              <a:t>2. Manager</a:t>
            </a:r>
          </a:p>
          <a:p>
            <a:endParaRPr lang="en-US" sz="3200" dirty="0" smtClean="0"/>
          </a:p>
          <a:p>
            <a:r>
              <a:rPr lang="en-US" sz="3200" dirty="0" smtClean="0"/>
              <a:t> 3.Industry </a:t>
            </a:r>
          </a:p>
          <a:p>
            <a:endParaRPr lang="en-US" sz="3200" dirty="0" smtClean="0"/>
          </a:p>
          <a:p>
            <a:r>
              <a:rPr lang="en-US" sz="3200" dirty="0" smtClean="0"/>
              <a:t>4.Employer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10" dirty="0"/>
              <a:t>O</a:t>
            </a:r>
            <a:r>
              <a:rPr sz="3600" spc="25" dirty="0"/>
              <a:t>U</a:t>
            </a:r>
            <a:r>
              <a:rPr sz="3600" dirty="0"/>
              <a:t>R</a:t>
            </a:r>
            <a:r>
              <a:rPr sz="3600" spc="5" dirty="0"/>
              <a:t> </a:t>
            </a:r>
            <a:r>
              <a:rPr sz="3600" spc="25" dirty="0"/>
              <a:t>S</a:t>
            </a:r>
            <a:r>
              <a:rPr sz="3600" spc="10" dirty="0"/>
              <a:t>O</a:t>
            </a:r>
            <a:r>
              <a:rPr sz="3600" spc="25" dirty="0"/>
              <a:t>LU</a:t>
            </a:r>
            <a:r>
              <a:rPr sz="3600" spc="-35" dirty="0"/>
              <a:t>T</a:t>
            </a:r>
            <a:r>
              <a:rPr sz="3600" spc="-30" dirty="0"/>
              <a:t>I</a:t>
            </a:r>
            <a:r>
              <a:rPr sz="3600" spc="10" dirty="0"/>
              <a:t>O</a:t>
            </a:r>
            <a:r>
              <a:rPr sz="3600" dirty="0"/>
              <a:t>N</a:t>
            </a:r>
            <a:r>
              <a:rPr sz="3600" spc="-345" dirty="0"/>
              <a:t> </a:t>
            </a:r>
            <a:r>
              <a:rPr sz="3600" spc="-35" dirty="0"/>
              <a:t>A</a:t>
            </a:r>
            <a:r>
              <a:rPr sz="3600" spc="-5" dirty="0"/>
              <a:t>N</a:t>
            </a:r>
            <a:r>
              <a:rPr sz="3600" dirty="0"/>
              <a:t>D</a:t>
            </a:r>
            <a:r>
              <a:rPr sz="3600" spc="35" dirty="0"/>
              <a:t> </a:t>
            </a:r>
            <a:r>
              <a:rPr sz="3600" spc="-30" dirty="0"/>
              <a:t>I</a:t>
            </a:r>
            <a:r>
              <a:rPr sz="3600" spc="-35" dirty="0"/>
              <a:t>T</a:t>
            </a:r>
            <a:r>
              <a:rPr sz="3600" dirty="0"/>
              <a:t>S</a:t>
            </a:r>
            <a:r>
              <a:rPr sz="3600" spc="60" dirty="0"/>
              <a:t> </a:t>
            </a:r>
            <a:r>
              <a:rPr sz="3600" spc="-295" dirty="0"/>
              <a:t>V</a:t>
            </a:r>
            <a:r>
              <a:rPr sz="3600" spc="-35" dirty="0"/>
              <a:t>A</a:t>
            </a:r>
            <a:r>
              <a:rPr sz="3600" spc="25" dirty="0"/>
              <a:t>LU</a:t>
            </a:r>
            <a:r>
              <a:rPr sz="3600" dirty="0"/>
              <a:t>E</a:t>
            </a:r>
            <a:r>
              <a:rPr sz="3600" spc="-65" dirty="0"/>
              <a:t> </a:t>
            </a:r>
            <a:r>
              <a:rPr sz="3600" spc="-15" dirty="0"/>
              <a:t>P</a:t>
            </a:r>
            <a:r>
              <a:rPr sz="3600" spc="-30" dirty="0"/>
              <a:t>R</a:t>
            </a:r>
            <a:r>
              <a:rPr sz="3600" spc="10" dirty="0"/>
              <a:t>O</a:t>
            </a:r>
            <a:r>
              <a:rPr sz="3600" spc="-15" dirty="0"/>
              <a:t>P</a:t>
            </a:r>
            <a:r>
              <a:rPr sz="3600" spc="10" dirty="0"/>
              <a:t>O</a:t>
            </a:r>
            <a:r>
              <a:rPr sz="3600" spc="25" dirty="0"/>
              <a:t>S</a:t>
            </a:r>
            <a:r>
              <a:rPr sz="3600" spc="-30" dirty="0"/>
              <a:t>I</a:t>
            </a:r>
            <a:r>
              <a:rPr sz="3600" spc="-35" dirty="0"/>
              <a:t>T</a:t>
            </a:r>
            <a:r>
              <a:rPr sz="3600" spc="-30" dirty="0"/>
              <a:t>I</a:t>
            </a:r>
            <a:r>
              <a:rPr sz="3600" spc="10" dirty="0"/>
              <a:t>O</a:t>
            </a:r>
            <a:r>
              <a:rPr sz="3600" dirty="0"/>
              <a:t>N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pPr marL="38100">
                <a:lnSpc>
                  <a:spcPct val="100000"/>
                </a:lnSpc>
                <a:spcBef>
                  <a:spcPts val="55"/>
                </a:spcBef>
              </a:pPr>
              <a:t>7</a:t>
            </a:fld>
            <a:endParaRPr spc="10" dirty="0"/>
          </a:p>
        </p:txBody>
      </p:sp>
      <p:sp>
        <p:nvSpPr>
          <p:cNvPr id="11" name="Rectangle 10"/>
          <p:cNvSpPr/>
          <p:nvPr/>
        </p:nvSpPr>
        <p:spPr>
          <a:xfrm>
            <a:off x="2133600" y="2667000"/>
            <a:ext cx="6629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/>
              <a:t>*Conditional formatting -missing </a:t>
            </a:r>
          </a:p>
          <a:p>
            <a:r>
              <a:rPr lang="en-US" sz="3600" dirty="0" smtClean="0"/>
              <a:t>*Filter- remove </a:t>
            </a:r>
          </a:p>
          <a:p>
            <a:r>
              <a:rPr lang="en-US" sz="3600" dirty="0" smtClean="0"/>
              <a:t>*Formula -performance level</a:t>
            </a:r>
          </a:p>
          <a:p>
            <a:r>
              <a:rPr lang="en-US" sz="3600" dirty="0" smtClean="0"/>
              <a:t>*Pivot table-summary</a:t>
            </a:r>
          </a:p>
          <a:p>
            <a:r>
              <a:rPr lang="en-US" sz="3600" dirty="0" smtClean="0"/>
              <a:t>*Graph -Data visualization 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600200"/>
            <a:ext cx="83058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 smtClean="0"/>
              <a:t>Employee data set -download by KAGGLE</a:t>
            </a:r>
          </a:p>
          <a:p>
            <a:r>
              <a:rPr lang="en-US" sz="4400" dirty="0" smtClean="0"/>
              <a:t>26 features -9 features taken </a:t>
            </a:r>
          </a:p>
          <a:p>
            <a:r>
              <a:rPr lang="en-US" sz="4400" dirty="0" smtClean="0"/>
              <a:t>employee id ,numerical value , first name ,last name -text, </a:t>
            </a:r>
          </a:p>
          <a:p>
            <a:r>
              <a:rPr lang="en-US" sz="4400" dirty="0" smtClean="0"/>
              <a:t>employee type -performance level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xmlns="" val="2720660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15" dirty="0"/>
              <a:t>THE</a:t>
            </a:r>
            <a:r>
              <a:rPr sz="4250" spc="20" dirty="0"/>
              <a:t> </a:t>
            </a:r>
            <a:r>
              <a:rPr lang="en-US" sz="4250" spc="20" dirty="0"/>
              <a:t>"</a:t>
            </a:r>
            <a:r>
              <a:rPr sz="4250" spc="10" dirty="0"/>
              <a:t>WOW</a:t>
            </a:r>
            <a:r>
              <a:rPr lang="en-US" sz="4250" spc="10" dirty="0"/>
              <a:t>"</a:t>
            </a:r>
            <a:r>
              <a:rPr sz="4250" spc="85" dirty="0"/>
              <a:t> </a:t>
            </a:r>
            <a:r>
              <a:rPr sz="4250" spc="10" dirty="0"/>
              <a:t>IN</a:t>
            </a:r>
            <a:r>
              <a:rPr sz="4250" spc="-5" dirty="0"/>
              <a:t> </a:t>
            </a:r>
            <a:r>
              <a:rPr sz="4250" spc="15" dirty="0"/>
              <a:t>OUR</a:t>
            </a:r>
            <a:r>
              <a:rPr sz="4250" spc="-10" dirty="0"/>
              <a:t> </a:t>
            </a:r>
            <a:r>
              <a:rPr sz="4250" spc="20" dirty="0"/>
              <a:t>SOLUTION</a:t>
            </a:r>
            <a:endParaRPr sz="4250" dirty="0"/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pPr marL="38100">
                <a:lnSpc>
                  <a:spcPct val="100000"/>
                </a:lnSpc>
                <a:spcBef>
                  <a:spcPts val="55"/>
                </a:spcBef>
              </a:pPr>
              <a:t>9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AD9CEB2-36E1-0550-426B-2FAF97882044}"/>
              </a:ext>
            </a:extLst>
          </p:cNvPr>
          <p:cNvSpPr txBox="1"/>
          <p:nvPr/>
        </p:nvSpPr>
        <p:spPr>
          <a:xfrm>
            <a:off x="2743200" y="2354703"/>
            <a:ext cx="8534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86000" y="3200400"/>
            <a:ext cx="8839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=IFS(Z8&gt;=5,"VERY HIGH",Z8&gt;=4,"HIGH",Z8&gt;=3,"MEDIUM",TRUE,"LOW")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pPr marL="38100">
                <a:lnSpc>
                  <a:spcPct val="100000"/>
                </a:lnSpc>
                <a:spcBef>
                  <a:spcPts val="55"/>
                </a:spcBef>
              </a:p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775" y="291147"/>
            <a:ext cx="3303904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b="1" spc="15" dirty="0">
                <a:latin typeface="Trebuchet MS"/>
                <a:cs typeface="Trebuchet MS"/>
              </a:rPr>
              <a:t>M</a:t>
            </a:r>
            <a:r>
              <a:rPr sz="4800" b="1" dirty="0">
                <a:latin typeface="Trebuchet MS"/>
                <a:cs typeface="Trebuchet MS"/>
              </a:rPr>
              <a:t>O</a:t>
            </a:r>
            <a:r>
              <a:rPr sz="4800" b="1" spc="-15" dirty="0">
                <a:latin typeface="Trebuchet MS"/>
                <a:cs typeface="Trebuchet MS"/>
              </a:rPr>
              <a:t>D</a:t>
            </a:r>
            <a:r>
              <a:rPr sz="4800" b="1" spc="-35" dirty="0">
                <a:latin typeface="Trebuchet MS"/>
                <a:cs typeface="Trebuchet MS"/>
              </a:rPr>
              <a:t>E</a:t>
            </a:r>
            <a:r>
              <a:rPr sz="4800" b="1" spc="-30" dirty="0">
                <a:latin typeface="Trebuchet MS"/>
                <a:cs typeface="Trebuchet MS"/>
              </a:rPr>
              <a:t>LL</a:t>
            </a:r>
            <a:r>
              <a:rPr sz="4800" b="1" spc="-5" dirty="0">
                <a:latin typeface="Trebuchet MS"/>
                <a:cs typeface="Trebuchet MS"/>
              </a:rPr>
              <a:t>I</a:t>
            </a:r>
            <a:r>
              <a:rPr sz="4800" b="1" spc="30" dirty="0">
                <a:latin typeface="Trebuchet MS"/>
                <a:cs typeface="Trebuchet MS"/>
              </a:rPr>
              <a:t>N</a:t>
            </a:r>
            <a:r>
              <a:rPr sz="4800" b="1" spc="5" dirty="0">
                <a:latin typeface="Trebuchet MS"/>
                <a:cs typeface="Trebuchet MS"/>
              </a:rPr>
              <a:t>G</a:t>
            </a:r>
            <a:endParaRPr sz="4800" dirty="0">
              <a:latin typeface="Trebuchet MS"/>
              <a:cs typeface="Trebuchet M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4000" y="1219200"/>
            <a:ext cx="6477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Data collection </a:t>
            </a:r>
          </a:p>
          <a:p>
            <a:r>
              <a:rPr lang="en-US" dirty="0" smtClean="0"/>
              <a:t>*KAGGLE _ download</a:t>
            </a:r>
          </a:p>
          <a:p>
            <a:r>
              <a:rPr lang="en-US" dirty="0" smtClean="0"/>
              <a:t>*EDUNET _ download </a:t>
            </a:r>
          </a:p>
          <a:p>
            <a:r>
              <a:rPr lang="en-US" dirty="0" smtClean="0"/>
              <a:t> </a:t>
            </a:r>
          </a:p>
          <a:p>
            <a:r>
              <a:rPr lang="en-US" b="1" dirty="0" smtClean="0"/>
              <a:t>Features collection</a:t>
            </a:r>
          </a:p>
          <a:p>
            <a:r>
              <a:rPr lang="en-US" dirty="0" smtClean="0"/>
              <a:t>*identify the feature in excel</a:t>
            </a:r>
          </a:p>
          <a:p>
            <a:endParaRPr lang="en-US" dirty="0" smtClean="0"/>
          </a:p>
          <a:p>
            <a:r>
              <a:rPr lang="en-US" b="1" dirty="0" smtClean="0"/>
              <a:t>Data cleaning </a:t>
            </a:r>
          </a:p>
          <a:p>
            <a:r>
              <a:rPr lang="en-US" dirty="0" smtClean="0"/>
              <a:t>*missing value _ identifying excel</a:t>
            </a:r>
          </a:p>
          <a:p>
            <a:r>
              <a:rPr lang="en-US" dirty="0" smtClean="0"/>
              <a:t>*missing value _ filter out by COLOUR</a:t>
            </a:r>
          </a:p>
          <a:p>
            <a:endParaRPr lang="en-US" dirty="0" smtClean="0"/>
          </a:p>
          <a:p>
            <a:r>
              <a:rPr lang="en-US" b="1" dirty="0" smtClean="0"/>
              <a:t>Performance level</a:t>
            </a:r>
          </a:p>
          <a:p>
            <a:r>
              <a:rPr lang="en-US" dirty="0" smtClean="0"/>
              <a:t>*formula using _ high &amp; low</a:t>
            </a:r>
          </a:p>
          <a:p>
            <a:endParaRPr lang="en-US" dirty="0" smtClean="0"/>
          </a:p>
          <a:p>
            <a:r>
              <a:rPr lang="en-US" b="1" dirty="0" smtClean="0"/>
              <a:t>Pivot table </a:t>
            </a:r>
          </a:p>
          <a:p>
            <a:r>
              <a:rPr lang="en-US" dirty="0" smtClean="0"/>
              <a:t>*summarized   &amp;  visualized </a:t>
            </a:r>
          </a:p>
          <a:p>
            <a:endParaRPr lang="en-US" dirty="0" smtClean="0"/>
          </a:p>
          <a:p>
            <a:r>
              <a:rPr lang="en-US" b="1" dirty="0" smtClean="0"/>
              <a:t>Result</a:t>
            </a:r>
            <a:r>
              <a:rPr lang="en-US" dirty="0" smtClean="0"/>
              <a:t> </a:t>
            </a:r>
          </a:p>
          <a:p>
            <a:r>
              <a:rPr lang="en-US" dirty="0" smtClean="0"/>
              <a:t>*graph 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243713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</a:t>
            </a:r>
            <a:r>
              <a:rPr spc="-40" dirty="0"/>
              <a:t>E</a:t>
            </a:r>
            <a:r>
              <a:rPr spc="15" dirty="0"/>
              <a:t>S</a:t>
            </a:r>
            <a:r>
              <a:rPr spc="-30" dirty="0"/>
              <a:t>U</a:t>
            </a:r>
            <a:r>
              <a:rPr spc="-405" dirty="0"/>
              <a:t>L</a:t>
            </a:r>
            <a:r>
              <a:rPr dirty="0"/>
              <a:t>TS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pPr marL="38100">
                <a:lnSpc>
                  <a:spcPct val="100000"/>
                </a:lnSpc>
                <a:spcBef>
                  <a:spcPts val="55"/>
                </a:spcBef>
              </a:pPr>
              <a:t>11</a:t>
            </a:fld>
            <a:endParaRPr sz="1100">
              <a:latin typeface="Trebuchet MS"/>
              <a:cs typeface="Trebuchet MS"/>
            </a:endParaRPr>
          </a:p>
        </p:txBody>
      </p:sp>
      <p:graphicFrame>
        <p:nvGraphicFramePr>
          <p:cNvPr id="8" name="Chart 7"/>
          <p:cNvGraphicFramePr/>
          <p:nvPr/>
        </p:nvGraphicFramePr>
        <p:xfrm>
          <a:off x="3495675" y="1624012"/>
          <a:ext cx="5200650" cy="3609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4334203" y="1371600"/>
            <a:ext cx="35905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EMPLOYEE PERFORMANCE ANAYSIS</a:t>
            </a:r>
            <a:endParaRPr 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A5CB5B-BDD0-5A64-1A7C-37D3C88F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19200" y="1524000"/>
            <a:ext cx="792480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 smtClean="0"/>
              <a:t>THE EMPLOYEE </a:t>
            </a:r>
            <a:r>
              <a:rPr lang="en-US" sz="2400" dirty="0" smtClean="0"/>
              <a:t> PERFORMANCE ANALYSIS THE PROJECT HAS PROVIDED VALUABLE INSIGHTS INTO THE KEY DRIVERS OF EMPLOYEE PRODUCTIVITY, GROWTH ,</a:t>
            </a:r>
          </a:p>
          <a:p>
            <a:r>
              <a:rPr lang="en-US" sz="2400" dirty="0" smtClean="0"/>
              <a:t>AND RETENTION WITH IN OUR ORGANISATION .BY LEVERAGING DATA ANALYTICS &amp; VISUALISATION TECHNIQUES ,WE HAVE IDENTIFIED AREAS FOR IMOROVEMENT &amp;</a:t>
            </a:r>
          </a:p>
          <a:p>
            <a:r>
              <a:rPr lang="en-US" sz="2400" dirty="0" smtClean="0"/>
              <a:t>DEVELOPED TARGETED INTERVENTIONS TO ENHANCE EMPLOYEE PERFORMANCE.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986442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</TotalTime>
  <Words>458</Words>
  <Application>Microsoft Office PowerPoint</Application>
  <PresentationFormat>Custom</PresentationFormat>
  <Paragraphs>93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Employee Data Analysis using Excel  </vt:lpstr>
      <vt:lpstr>PROJECT TITLE</vt:lpstr>
      <vt:lpstr>AGENDA</vt:lpstr>
      <vt:lpstr>PROBLEM STATEMENT</vt:lpstr>
      <vt:lpstr>PROJECT OVERVIEW</vt:lpstr>
      <vt:lpstr>WHO ARE THE END USERS?</vt:lpstr>
      <vt:lpstr>OUR SOLUTION AND ITS VALUE PROPOSITION</vt:lpstr>
      <vt:lpstr>Dataset Description</vt:lpstr>
      <vt:lpstr>THE "WOW" IN OUR SOLUTION</vt:lpstr>
      <vt:lpstr>Slide 10</vt:lpstr>
      <vt:lpstr>RESULTS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</dc:title>
  <dc:creator>Konduru Narasimha</dc:creator>
  <cp:lastModifiedBy>user</cp:lastModifiedBy>
  <cp:revision>44</cp:revision>
  <dcterms:created xsi:type="dcterms:W3CDTF">2024-03-29T15:07:22Z</dcterms:created>
  <dcterms:modified xsi:type="dcterms:W3CDTF">2024-09-02T20:55:29Z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